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SDLC – COMPLETE PROCESS 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Version 1.0 — Created: 2025-11-05</a:t>
            </a:r>
          </a:p>
          <a:p>
            <a:r>
              <a:t>ZYP Platform — Agentic SDLC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7C82"/>
                </a:solidFill>
              </a:defRPr>
            </a:pPr>
            <a:r>
              <a:t>ZYP Platform — Agentic SDLC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C82"/>
                </a:solidFill>
              </a:defRPr>
            </a:pPr>
            <a:r>
              <a:t>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Visual representation of the complete Agentic SDLC lifecycle, from sprint initiation to production deployment.</a:t>
            </a:r>
          </a:p>
          <a:p>
            <a:pPr lvl="1">
              <a:defRPr sz="1800"/>
            </a:pPr>
            <a:r>
              <a:t>Covers phases 1–5 plus orchestration, CI/CD, and decision flows</a:t>
            </a:r>
          </a:p>
          <a:p>
            <a:pPr lvl="1">
              <a:defRPr sz="1800"/>
            </a:pPr>
            <a:r>
              <a:t>Built for 2-week sprints with 100% E2E pass as the completion gate</a:t>
            </a:r>
          </a:p>
          <a:p>
            <a:pPr lvl="1">
              <a:defRPr sz="1800"/>
            </a:pPr>
            <a:r>
              <a:t>Readable lanes: Humans (Blue), Agents (Orange), Artifacts (Gray)</a:t>
            </a:r>
          </a:p>
          <a:p>
            <a:pPr lvl="1">
              <a:defRPr sz="1800"/>
            </a:pPr>
            <a:r>
              <a:t>Designed for 16:9, HD export, and print-friendly handouts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7C82"/>
                </a:solidFill>
              </a:defRPr>
            </a:pPr>
            <a:r>
              <a:t>ZYP Platform — Agentic SDLC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C82"/>
                </a:solidFill>
              </a:defRPr>
            </a:pPr>
            <a:r>
              <a:t>v1.0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111827"/>
                </a:solidFill>
              </a:defRPr>
            </a:pPr>
            <a:r>
              <a:t>High-Level Sprint Lifecycle (2 Weeks)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4846320" cy="731520"/>
          </a:xfrm>
          <a:prstGeom prst="roundRect">
            <a:avLst/>
          </a:prstGeom>
          <a:solidFill>
            <a:srgbClr val="2F6FE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Planning (Day 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463040"/>
            <a:ext cx="5966459" cy="731520"/>
          </a:xfrm>
          <a:prstGeom prst="roundRect">
            <a:avLst/>
          </a:prstGeom>
          <a:solidFill>
            <a:srgbClr val="F28C2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Daily Cycles (Days 2–9)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18619" y="1463040"/>
            <a:ext cx="6286500" cy="731520"/>
          </a:xfrm>
          <a:prstGeom prst="roundRect">
            <a:avLst/>
          </a:prstGeom>
          <a:solidFill>
            <a:srgbClr val="6B728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Sprint Review (Day 10 AM)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7999" y="1463040"/>
            <a:ext cx="6286500" cy="731520"/>
          </a:xfrm>
          <a:prstGeom prst="roundRect">
            <a:avLst/>
          </a:prstGeom>
          <a:solidFill>
            <a:srgbClr val="6B728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Retrospective (Day 10 PM)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560320"/>
            <a:ext cx="3886200" cy="640080"/>
          </a:xfrm>
          <a:prstGeom prst="roundRect">
            <a:avLst/>
          </a:prstGeom>
          <a:solidFill>
            <a:srgbClr val="2F6FE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Kickoff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2560320"/>
            <a:ext cx="5646420" cy="640080"/>
          </a:xfrm>
          <a:prstGeom prst="roundRect">
            <a:avLst/>
          </a:prstGeom>
          <a:solidFill>
            <a:srgbClr val="F28C2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Build → Test → Deploy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61420" y="2560320"/>
            <a:ext cx="3886200" cy="640080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100% E2E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613380" y="2560320"/>
            <a:ext cx="4046220" cy="640080"/>
          </a:xfrm>
          <a:prstGeom prst="roundRect">
            <a:avLst/>
          </a:prstGeom>
          <a:solidFill>
            <a:srgbClr val="2F6FE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Next Sprint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7C82"/>
                </a:solidFill>
              </a:defRPr>
            </a:pPr>
            <a:r>
              <a:t>ZYP Platform — Agentic SDLC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C82"/>
                </a:solidFill>
              </a:defRPr>
            </a:pPr>
            <a:r>
              <a:t>v1.0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111827"/>
                </a:solidFill>
              </a:defRPr>
            </a:pPr>
            <a:r>
              <a:t>Phase 1: Sprint Initiation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2286000" cy="118872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F6FED"/>
                </a:solidFill>
              </a:defRPr>
            </a:pPr>
            <a:r>
              <a:t>Product Owner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Provides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463040"/>
            <a:ext cx="2286000" cy="118872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Backlog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Unrefined Items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463040"/>
            <a:ext cx="2743200" cy="118872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28C28"/>
                </a:solidFill>
              </a:defRPr>
            </a:pPr>
            <a:r>
              <a:t>Sprint Manager Agent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Coordinates Inception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926080"/>
            <a:ext cx="2743200" cy="118872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28C28"/>
                </a:solidFill>
              </a:defRPr>
            </a:pPr>
            <a:r>
              <a:t>Sprint Planning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389120"/>
            <a:ext cx="2743200" cy="109728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28C28"/>
                </a:solidFill>
              </a:defRPr>
            </a:pPr>
            <a:r>
              <a:t>Backlog Refinement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4389120"/>
            <a:ext cx="2743200" cy="109728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28C28"/>
                </a:solidFill>
              </a:defRPr>
            </a:pPr>
            <a:r>
              <a:t>Requirement Clarifier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389120"/>
            <a:ext cx="2743200" cy="109728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28C28"/>
                </a:solidFill>
              </a:defRPr>
            </a:pPr>
            <a:r>
              <a:t>Priority Calculator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5669280"/>
            <a:ext cx="2743200" cy="109728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Sprint Backlog (Prioritized)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057400.0"/>
            <a:ext cx="182880" cy="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212080" y="2057400.0"/>
            <a:ext cx="274320" cy="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389120" y="2057400.0"/>
            <a:ext cx="3840480" cy="146304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114800" y="3520440.0"/>
            <a:ext cx="274320" cy="141732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4389120" y="3520440.0"/>
            <a:ext cx="3017520" cy="141732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4389120" y="3520440.0"/>
            <a:ext cx="6217920" cy="141732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389120" y="3520440.0"/>
            <a:ext cx="2743200" cy="269748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7C82"/>
                </a:solidFill>
              </a:defRPr>
            </a:pPr>
            <a:r>
              <a:t>ZYP Platform — Agentic SDLC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C82"/>
                </a:solidFill>
              </a:defRPr>
            </a:pPr>
            <a:r>
              <a:t>v1.0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111827"/>
                </a:solidFill>
              </a:defRPr>
            </a:pPr>
            <a:r>
              <a:t>Phase 2: Daily Development Cycles (Days 2–9)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011680" cy="100584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F6FED"/>
                </a:solidFill>
              </a:defRPr>
            </a:pPr>
            <a:r>
              <a:t>Daily Standup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463040"/>
            <a:ext cx="2926080" cy="100584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28C28"/>
                </a:solidFill>
              </a:defRPr>
            </a:pPr>
            <a:r>
              <a:t>Development Agents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Scaffold • Enhancement • Debug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2926080" cy="100584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Nightly Build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834640"/>
            <a:ext cx="2926080" cy="100584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28C28"/>
                </a:solidFill>
              </a:defRPr>
            </a:pPr>
            <a:r>
              <a:t>Work Execution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Feature Work • Fixes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834640"/>
            <a:ext cx="2926080" cy="100584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CI/CD Stages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Build • Unit • Integration • E2E • Sec • Perf • Deploy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834640"/>
            <a:ext cx="2011680" cy="100584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Quality Gates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Coverage&gt;80 • No Criticals • Perf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4206240"/>
            <a:ext cx="2011680" cy="100584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Daily Report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Progress • Blockers • Velocity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1965960.0"/>
            <a:ext cx="274320" cy="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1965960.0"/>
            <a:ext cx="457200" cy="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926080" y="1965960.0"/>
            <a:ext cx="2926080" cy="137160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3337560.0"/>
            <a:ext cx="457200" cy="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35440" y="3337560.0"/>
            <a:ext cx="274320" cy="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509760" y="3337560.0"/>
            <a:ext cx="2011680" cy="137160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7C82"/>
                </a:solidFill>
              </a:defRPr>
            </a:pPr>
            <a:r>
              <a:t>ZYP Platform — Agentic SDLC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C82"/>
                </a:solidFill>
              </a:defRPr>
            </a:pPr>
            <a:r>
              <a:t>v1.0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111827"/>
                </a:solidFill>
              </a:defRPr>
            </a:pPr>
            <a:r>
              <a:t>Phase 3: Agent Orchestration Detail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0" y="1097280"/>
            <a:ext cx="3200400" cy="109728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28C28"/>
                </a:solidFill>
              </a:defRPr>
            </a:pPr>
            <a:r>
              <a:t>ORCHESTRATOR (BRAIN)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State Machine • Decision Engine • Resource Manager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2743200"/>
            <a:ext cx="2377440" cy="91440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Event Bus (Redis)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743200"/>
            <a:ext cx="2377440" cy="91440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Message Queue (Redis)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743200"/>
            <a:ext cx="2377440" cy="91440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Task Queue (Priority)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89120"/>
            <a:ext cx="2743200" cy="118872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28C28"/>
                </a:solidFill>
              </a:defRPr>
            </a:pPr>
            <a:r>
              <a:t>DEVELOPMENT AGENTS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Scaffold • Enhancement • Debug • Refactor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4389120"/>
            <a:ext cx="2743200" cy="118872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28C28"/>
                </a:solidFill>
              </a:defRPr>
            </a:pPr>
            <a:r>
              <a:t>TESTING AGENTS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Validation • E2E • Integration •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389120"/>
            <a:ext cx="2743200" cy="118872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28C28"/>
                </a:solidFill>
              </a:defRPr>
            </a:pPr>
            <a:r>
              <a:t>DEPLOYMENT AGENTS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Deploy • Monitor • Recovery • Rollback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852160"/>
            <a:ext cx="2377440" cy="100584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Agent Results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Code • Tests • Deployed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011680" y="1645920.0"/>
            <a:ext cx="5669280" cy="155448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663440" y="1645920.0"/>
            <a:ext cx="3017520" cy="155448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315200" y="1645920.0"/>
            <a:ext cx="365760" cy="155448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14400" y="3200400.0"/>
            <a:ext cx="3474720" cy="178308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572000" y="3200400.0"/>
            <a:ext cx="2468880" cy="178308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229600" y="3200400.0"/>
            <a:ext cx="1463040" cy="178308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663440" y="4983480.0"/>
            <a:ext cx="2651760" cy="137160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7C82"/>
                </a:solidFill>
              </a:defRPr>
            </a:pPr>
            <a:r>
              <a:t>ZYP Platform — Agentic SDLC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C82"/>
                </a:solidFill>
              </a:defRPr>
            </a:pPr>
            <a:r>
              <a:t>v1.0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111827"/>
                </a:solidFill>
              </a:defRPr>
            </a:pPr>
            <a:r>
              <a:t>Phase 4: CI/CD Pipeline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54480"/>
            <a:ext cx="2377440" cy="91440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28C28"/>
                </a:solidFill>
              </a:defRPr>
            </a:pPr>
            <a:r>
              <a:t>Agent API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Requests &amp; Callbacks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0" y="1554480"/>
            <a:ext cx="2377440" cy="91440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Pipeline API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Trigger &amp;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011680"/>
            <a:ext cx="4572000" cy="109728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F6FED"/>
                </a:solidFill>
              </a:defRPr>
            </a:pPr>
            <a:r>
              <a:t>BIDIRECTIONAL API LAYER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Webhooks • Events • Status • Tasks •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566160"/>
            <a:ext cx="2194560" cy="100584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Pipeline Engine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GitHub Actions • Jenkins • GitLab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566160"/>
            <a:ext cx="2194560" cy="100584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28C28"/>
                </a:solidFill>
              </a:defRPr>
            </a:pPr>
            <a:r>
              <a:t>Agent Pool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Containers • Pods • Autoscale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4937760"/>
            <a:ext cx="4572000" cy="109728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Validation Scripts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TS • Coverage • Integration • E2E • Security • Perf • Compliance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1840" y="2011680.0"/>
            <a:ext cx="365760" cy="54864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657600" y="2011680.0"/>
            <a:ext cx="7589520" cy="54864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657600" y="2560320.0"/>
            <a:ext cx="4572000" cy="150876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035040" y="2560320.0"/>
            <a:ext cx="2194560" cy="150876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657600" y="4069080.0"/>
            <a:ext cx="4572000" cy="141732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7C82"/>
                </a:solidFill>
              </a:defRPr>
            </a:pPr>
            <a:r>
              <a:t>ZYP Platform — Agentic SDLC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C82"/>
                </a:solidFill>
              </a:defRPr>
            </a:pPr>
            <a:r>
              <a:t>v1.0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111827"/>
                </a:solidFill>
              </a:defRPr>
            </a:pPr>
            <a:r>
              <a:t>Phase 5: Sprint Completion (Day 10)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011680" cy="91440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Code Freeze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463040"/>
            <a:ext cx="2377440" cy="91440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F6FED"/>
                </a:solidFill>
              </a:defRPr>
            </a:pPr>
            <a:r>
              <a:t>Sprint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463040"/>
            <a:ext cx="2377440" cy="91440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F6FED"/>
                </a:solidFill>
              </a:defRPr>
            </a:pPr>
            <a:r>
              <a:t>Retrospective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1463040"/>
            <a:ext cx="2834640" cy="91440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RELEASE CANDIDATE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100% Tests • Gates Met • 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08960"/>
            <a:ext cx="2926080" cy="109728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Final Build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Compile • All Tests • 100% E2E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3108960"/>
            <a:ext cx="2926080" cy="109728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Demo Generation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Collect Work • Script • Run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3108960"/>
            <a:ext cx="2926080" cy="109728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Analysis</a:t>
            </a:r>
          </a:p>
          <a:p>
            <a:pPr>
              <a:defRPr sz="1400">
                <a:solidFill>
                  <a:srgbClr val="111827"/>
                </a:solidFill>
              </a:defRPr>
            </a:pPr>
            <a:r>
              <a:t>Metrics • Improvements • Actions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1920240.0"/>
            <a:ext cx="274320" cy="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03520" y="1920240.0"/>
            <a:ext cx="365760" cy="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0" y="1920240.0"/>
            <a:ext cx="548640" cy="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0080" y="1920240.0"/>
            <a:ext cx="2011680" cy="173736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840480" y="1920240.0"/>
            <a:ext cx="1463040" cy="173736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040880" y="1920240.0"/>
            <a:ext cx="1005840" cy="1737360.0"/>
          </a:xfrm>
          <a:prstGeom prst="line">
            <a:avLst/>
          </a:prstGeom>
          <a:ln w="317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7C82"/>
                </a:solidFill>
              </a:defRPr>
            </a:pPr>
            <a:r>
              <a:t>ZYP Platform — Agentic SDLC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C82"/>
                </a:solidFill>
              </a:defRPr>
            </a:pPr>
            <a:r>
              <a:t>v1.0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111827"/>
                </a:solidFill>
              </a:defRPr>
            </a:pPr>
            <a:r>
              <a:t>Sprint Success Metrics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383280" cy="109728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Sprint Progress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85% — Day 8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80160"/>
            <a:ext cx="3383280" cy="109728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F6FED"/>
                </a:solidFill>
              </a:defRPr>
            </a:pPr>
            <a:r>
              <a:t>Velocity Trend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42 →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280160"/>
            <a:ext cx="3383280" cy="109728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Quality Gates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3383280" cy="109728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28C28"/>
                </a:solidFill>
              </a:defRPr>
            </a:pPr>
            <a:r>
              <a:t>E2E Tests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98%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743200"/>
            <a:ext cx="3383280" cy="109728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28C28"/>
                </a:solidFill>
              </a:defRPr>
            </a:pPr>
            <a:r>
              <a:t>Active Agents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743200"/>
            <a:ext cx="3383280" cy="1097280"/>
          </a:xfrm>
          <a:prstGeom prst="roundRect">
            <a:avLst/>
          </a:prstGeom>
          <a:solidFill>
            <a:srgbClr val="F9FAFB"/>
          </a:solidFill>
          <a:ln w="3175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F6FED"/>
                </a:solidFill>
              </a:defRPr>
            </a:pPr>
            <a:r>
              <a:t>Pipeline Status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t>Running 3 • Queued 5 • Complete 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7C82"/>
                </a:solidFill>
              </a:defRPr>
            </a:pPr>
            <a:r>
              <a:t>ZYP Platform — Agentic SDLC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C82"/>
                </a:solidFill>
              </a:defRPr>
            </a:pPr>
            <a:r>
              <a:t>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